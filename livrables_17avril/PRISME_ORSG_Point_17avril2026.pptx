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B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0"/>
            <a:ext cx="2834640" cy="6858000"/>
          </a:xfrm>
          <a:prstGeom prst="rect">
            <a:avLst/>
          </a:prstGeom>
          <a:solidFill>
            <a:srgbClr val="3BB3A9">
              <a:alpha val="18000"/>
            </a:srgbClr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280160"/>
            <a:ext cx="91440" cy="4206240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430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PRISME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projet et dernieres phases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749040"/>
            <a:ext cx="4114800" cy="0"/>
          </a:xfrm>
          <a:prstGeom prst="line">
            <a:avLst/>
          </a:prstGeom>
          <a:noFill/>
          <a:ln w="15240">
            <a:solidFill>
              <a:srgbClr val="3BB3A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Vendredi 17 avril 2026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 de cloture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440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ORSG-CTPS  et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ATTICOT DIT RAVINO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 Digital - Consultant partenaire N.O.V.I. Connected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46920" y="5486400"/>
            <a:ext cx="2148840" cy="9601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46920" y="5577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46920" y="5852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46920" y="61264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avril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ORSG-CTPS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Observatoire Regional de la Sante de Guyane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Data Visus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REUNIE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interlocuteurs du jour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nous retrouvons pour faire le point, valider les corrections livrees et preparer la derniere ligne droite ensemble.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642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4B8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31720"/>
            <a:ext cx="164592" cy="118872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606040"/>
            <a:ext cx="822960" cy="82296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1A4B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4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MJC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20240" y="2514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4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Marie-Josiane CASTOR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2024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Directrice ORSG-CTPS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m-j.castor@ors-guyane.org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509760" y="2697480"/>
            <a:ext cx="2103120" cy="45720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0" y="2697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DECISIONNAIRE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5532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931920"/>
            <a:ext cx="640080" cy="640080"/>
          </a:xfrm>
          <a:prstGeom prst="ellipse">
            <a:avLst/>
          </a:prstGeom>
          <a:solidFill>
            <a:srgbClr val="E6F6F4"/>
          </a:solidFill>
          <a:ln w="15240">
            <a:solidFill>
              <a:srgbClr val="3BB3A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B3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NCR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38862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Naissa CHATEAU REMY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508760" y="4206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Chargee d'etudes sante publique &amp; epidemiologie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08760" y="44622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naissa.chateau@ors-guyane.org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3703320"/>
            <a:ext cx="5532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6520" y="3931920"/>
            <a:ext cx="640080" cy="640080"/>
          </a:xfrm>
          <a:prstGeom prst="ellipse">
            <a:avLst/>
          </a:prstGeom>
          <a:solidFill>
            <a:srgbClr val="E6F6F4"/>
          </a:solidFill>
          <a:ln w="15240">
            <a:solidFill>
              <a:srgbClr val="3BB3A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B3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23760" y="38862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Jessy PAJOT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223760" y="4206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ORSG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23760" y="44622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ors-guyane.org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937760"/>
            <a:ext cx="5532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5166360"/>
            <a:ext cx="640080" cy="640080"/>
          </a:xfrm>
          <a:prstGeom prst="ellipse">
            <a:avLst/>
          </a:prstGeom>
          <a:solidFill>
            <a:srgbClr val="E6F6F4"/>
          </a:solidFill>
          <a:ln w="15240">
            <a:solidFill>
              <a:srgbClr val="3BB3A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B3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08760" y="51206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Manuella IMOUNGA-DESROZIERS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508760" y="5440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ORSG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508760" y="56967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ors-guyane.org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4937760"/>
            <a:ext cx="55321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46520" y="5166360"/>
            <a:ext cx="640080" cy="640080"/>
          </a:xfrm>
          <a:prstGeom prst="ellipse">
            <a:avLst/>
          </a:prstGeom>
          <a:solidFill>
            <a:srgbClr val="E6F6F4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MTD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223760" y="51206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Marie-Therese DANIEL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223760" y="5440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ORSG - en copie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223760" y="56967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ors-guyane.org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ORSG - Point projet - 17 avril 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321040" y="6492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Atticot dit Ravino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ORSG-CTPS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Observatoire Regional de la Sante de Guyane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Data Visus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CHRONOLOGIE DU PROJET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qu'on a fait ensemble depuis novembre 2025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jalons pour raconter un projet livre en temps et en heure, du cadrage a la reunion de cloture d'aujourd'hui.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657600"/>
            <a:ext cx="103327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383280"/>
            <a:ext cx="548640" cy="548640"/>
          </a:xfrm>
          <a:prstGeom prst="ellipse">
            <a:avLst/>
          </a:prstGeom>
          <a:solidFill>
            <a:srgbClr val="1A4B8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-91440" y="173736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B8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-91440" y="1737360"/>
            <a:ext cx="2011680" cy="9144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-4572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nov. 2025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-4572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du projet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-45720" y="25420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de commande N250219 signe. Definition du perimetre MVP.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23260" y="3383280"/>
            <a:ext cx="548640" cy="548640"/>
          </a:xfrm>
          <a:prstGeom prst="ellipse">
            <a:avLst/>
          </a:prstGeom>
          <a:solidFill>
            <a:srgbClr val="3BB3A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326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491740" y="402336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B3A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91740" y="4023360"/>
            <a:ext cx="2011680" cy="91440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3746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Fev. 2026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37460" y="4434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complet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37460" y="48280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assemblee : 219 indicateurs, 14 thematiques, 8 ecrans.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06440" y="3383280"/>
            <a:ext cx="548640" cy="548640"/>
          </a:xfrm>
          <a:prstGeom prst="ellipse">
            <a:avLst/>
          </a:prstGeom>
          <a:solidFill>
            <a:srgbClr val="D9770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74920" y="173736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74920" y="1737360"/>
            <a:ext cx="201168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avril 2026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2064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de livraison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25420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live aupres de l'equipe ORSG. Retours collectes.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389620" y="3383280"/>
            <a:ext cx="548640" cy="548640"/>
          </a:xfrm>
          <a:prstGeom prst="ellipse">
            <a:avLst/>
          </a:prstGeom>
          <a:solidFill>
            <a:srgbClr val="2E5FA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8962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58100" y="402336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658100" y="4023360"/>
            <a:ext cx="2011680" cy="91440"/>
          </a:xfrm>
          <a:prstGeom prst="rect">
            <a:avLst/>
          </a:prstGeom>
          <a:solidFill>
            <a:srgbClr val="2E5FA6"/>
          </a:solidFill>
          <a:ln w="12700">
            <a:solidFill>
              <a:srgbClr val="2E5F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0382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2E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avril 2026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703820" y="4434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retours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03820" y="48280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ecrite des 4 demandes d'amelioration.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972800" y="3383280"/>
            <a:ext cx="548640" cy="548640"/>
          </a:xfrm>
          <a:prstGeom prst="ellipse">
            <a:avLst/>
          </a:prstGeom>
          <a:solidFill>
            <a:srgbClr val="4CAF5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280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241280" y="173736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241280" y="1737360"/>
            <a:ext cx="2011680" cy="914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287000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avril 2026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28700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livrees + cloture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287000" y="254203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demandes integrees. Reunion de cloture aujourd'hui.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ORSG - Point projet - 17 avril 2026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21040" y="6492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Atticot dit Ravino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ORSG-CTPS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Observatoire Regional de la Sante de Guyane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Data Visus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VOLUMETRIE METIER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plateforme en 4 chiffres qui comptent pour vous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pensee pour votre metier : chaque chiffre se traduit par un gain concret pour l'equipe ORSG.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269748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423160"/>
            <a:ext cx="2697480" cy="128016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8892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A4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219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731520" y="4343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de sante publique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31620" y="5120640"/>
            <a:ext cx="731520" cy="0"/>
          </a:xfrm>
          <a:prstGeom prst="line">
            <a:avLst/>
          </a:prstGeom>
          <a:noFill/>
          <a:ln w="15240">
            <a:solidFill>
              <a:srgbClr val="1A4B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212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disponibles en un clic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2423160"/>
            <a:ext cx="269748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2423160"/>
            <a:ext cx="2697480" cy="128016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78892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3BB3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3566160" y="4343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thematiques couvertes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66260" y="5120640"/>
            <a:ext cx="731520" cy="0"/>
          </a:xfrm>
          <a:prstGeom prst="line">
            <a:avLst/>
          </a:prstGeom>
          <a:noFill/>
          <a:ln w="15240">
            <a:solidFill>
              <a:srgbClr val="3BB3A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5212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demographie, education, sante, pathologies, traumatismes, comportements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2423160"/>
            <a:ext cx="269748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2423160"/>
            <a:ext cx="2697480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78892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6400800" y="4343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geographiques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00900" y="5120640"/>
            <a:ext cx="731520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5212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commune, region, DOM, France hexagonale, France entiere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52560" y="2423160"/>
            <a:ext cx="269748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052560" y="2423160"/>
            <a:ext cx="2697480" cy="128016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278892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101</a:t>
            </a:r>
            <a:endParaRPr lang="en-US" sz="7200" dirty="0"/>
          </a:p>
        </p:txBody>
      </p:sp>
      <p:sp>
        <p:nvSpPr>
          <p:cNvPr id="29" name="Text 27"/>
          <p:cNvSpPr/>
          <p:nvPr/>
        </p:nvSpPr>
        <p:spPr>
          <a:xfrm>
            <a:off x="9235440" y="4343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Excel deja generes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035540" y="5120640"/>
            <a:ext cx="731520" cy="0"/>
          </a:xfrm>
          <a:prstGeom prst="line">
            <a:avLst/>
          </a:prstGeom>
          <a:noFill/>
          <a:ln w="1524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35440" y="5212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prets a importer dans Geoclip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Concretement : un rapport qui prenait plusieurs jours se prepare maintenant en quelques minutes.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ORSG - Point projet - 17 avril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321040" y="6492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Atticot dit Ravino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ORSG-CTPS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Observatoire Regional de la Sante de Guyane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Data Visus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SIMPLE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la plateforme va etre installee chez vous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installation sobre, sur votre infrastructure, accessible uniquement par vos equipes via votre reseau prive.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32004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4B8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926080"/>
            <a:ext cx="3200400" cy="50292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4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Equipe ORSG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4206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utilisateurs autorises ouvrent la plateforme depuis leur poste de travail.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069080" y="3858768"/>
            <a:ext cx="365760" cy="329184"/>
          </a:xfrm>
          <a:prstGeom prst="rtTriangle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77640" y="4023360"/>
            <a:ext cx="182880" cy="0"/>
          </a:xfrm>
          <a:prstGeom prst="line">
            <a:avLst/>
          </a:prstGeom>
          <a:noFill/>
          <a:ln w="25400">
            <a:solidFill>
              <a:srgbClr val="3BB3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2926080"/>
            <a:ext cx="32004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BB3A9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26280" y="2926080"/>
            <a:ext cx="3200400" cy="502920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26280" y="3611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B3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Reseau prive ORSG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09160" y="4206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securise via le VPN ORSG. La plateforme n'est jamais exposee a internet.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rot="5400000">
            <a:off x="7863840" y="3858768"/>
            <a:ext cx="365760" cy="329184"/>
          </a:xfrm>
          <a:prstGeom prst="rtTriangle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4023360"/>
            <a:ext cx="182880" cy="0"/>
          </a:xfrm>
          <a:prstGeom prst="line">
            <a:avLst/>
          </a:prstGeom>
          <a:noFill/>
          <a:ln w="25400">
            <a:solidFill>
              <a:srgbClr val="3BB3A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2926080"/>
            <a:ext cx="32004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21040" y="2926080"/>
            <a:ext cx="32004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21040" y="3611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dediee ORSG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503920" y="4206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PRISME est installee sur une machine virtuelle dans votre infrastructure.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623560"/>
            <a:ext cx="1106424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Vos donnees ne sortent jamais de votre infrastructure.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transmission externe, aucun tiers heberge vos indicateurs. Maitrise complete cote ORSG.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ORSG - Point projet - 17 avril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21040" y="6492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Atticot dit Ravino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ORSG-CTPS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Observatoire Regional de la Sante de Guyane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Data Visus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DEMANDES LIVREES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retours de la reunion du 2 avril - statut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demandes formulees le 2 avril, confirmees par emails les 7 et 17 avril. Toutes integrees, testees, livrees.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64240" cy="41148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DU 2 AVRIL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78408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3464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Retirer les taux des fichiers generes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108960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les recalcule, seules les donnees brutes sortent.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875520" y="2926080"/>
            <a:ext cx="2011680" cy="3200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11064240" cy="594360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93008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l'intitule Suicide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76732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libelle est desormais coherent sur toutes les pages.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875520" y="3584448"/>
            <a:ext cx="2011680" cy="3200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0" y="35844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105656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151376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l'import de fichiers hors MOCA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42569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jeux de donnees externes sont acceptes directement.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875520" y="4242816"/>
            <a:ext cx="2011680" cy="3200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0" y="42428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764024"/>
            <a:ext cx="11064240" cy="594360"/>
          </a:xfrm>
          <a:prstGeom prst="rect">
            <a:avLst/>
          </a:prstGeom>
          <a:solidFill>
            <a:srgbClr val="E8F5E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809744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Rendre toutes les thematiques accessibles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5084064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219 indicateurs du referentiel sont selectionnables.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875520" y="4901184"/>
            <a:ext cx="2011680" cy="3200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75520" y="49011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422392"/>
            <a:ext cx="11064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46811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les comptes en administrateur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" y="5742432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comptes : Dr. Castor, Naissa, Jessy, Manuella.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875520" y="5559552"/>
            <a:ext cx="2011680" cy="3200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5520" y="5559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ORSG - Point projet - 17 avril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321040" y="6492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Atticot dit Ravino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ORSG-CTPS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Observatoire Regional de la Sante de Guyane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Data Visus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PRIORITE METIER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cap prioritaire : le rapport Traumatismes de fin mai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familles de donnees pour un rapport que vous generez en quelques clics.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61188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31720"/>
            <a:ext cx="361188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774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Accidents de la route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3200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officielle du Ministere de l'Interieur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160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ANNEES COUVERTES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4389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a 2024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937760"/>
            <a:ext cx="315468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937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Recupere automatiquement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43400" y="2331720"/>
            <a:ext cx="361188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43400" y="2331720"/>
            <a:ext cx="3611880" cy="685800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3774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Noyades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0" y="3200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Sante Publique France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4160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ANNEES COUVERTES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4389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 a 2021 integres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4937760"/>
            <a:ext cx="315468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4937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2022-2024 a fournir par l'ORSG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38160" y="2331720"/>
            <a:ext cx="361188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38160" y="2331720"/>
            <a:ext cx="3611880" cy="68580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23774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Suicide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366760" y="3200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6676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66760" y="4160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ANNEES COUVERTES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66760" y="4389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a 2023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366760" y="4937760"/>
            <a:ext cx="3154680" cy="73152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4937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integre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Vous generez le rapport Traumatismes en quelques clics.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ORSG - Point projet - 17 avril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321040" y="6492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Atticot dit Ravino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ORSG-CTPS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Observatoire Regional de la Sante de Guyane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Data Visus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CONTRAT INITIAL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nous avons livre en plus, gratuitement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Fonctionnalites non prevues au bon de commande, ajoutees pour livrer une plateforme a la hauteur de vos ambitions.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64240" cy="384048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488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0" y="2148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ESTIMEE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0" y="21488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6424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8775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complete (8 pages, interface moderne)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503920" y="25877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12 000 EUR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607040" y="2660904"/>
            <a:ext cx="1188720" cy="256032"/>
          </a:xfrm>
          <a:prstGeom prst="rect">
            <a:avLst/>
          </a:prstGeom>
          <a:solidFill>
            <a:srgbClr val="E8F5E9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0" y="26609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044952"/>
            <a:ext cx="11064240" cy="411480"/>
          </a:xfrm>
          <a:prstGeom prst="rect">
            <a:avLst/>
          </a:prstGeom>
          <a:solidFill>
            <a:srgbClr val="E6F6F4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04495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a double facteur (code email)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03920" y="30449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2 500 EUR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607040" y="3118104"/>
            <a:ext cx="1188720" cy="256032"/>
          </a:xfrm>
          <a:prstGeom prst="rect">
            <a:avLst/>
          </a:prstGeom>
          <a:solidFill>
            <a:srgbClr val="E8F5E9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0" y="31181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502152"/>
            <a:ext cx="1106424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50215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utilisateurs avec roles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03920" y="35021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2 000 EUR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607040" y="3575304"/>
            <a:ext cx="1188720" cy="256032"/>
          </a:xfrm>
          <a:prstGeom prst="rect">
            <a:avLst/>
          </a:prstGeom>
          <a:solidFill>
            <a:srgbClr val="E8F5E9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0" y="3575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959352"/>
            <a:ext cx="11064240" cy="411480"/>
          </a:xfrm>
          <a:prstGeom prst="rect">
            <a:avLst/>
          </a:prstGeom>
          <a:solidFill>
            <a:srgbClr val="E6F6F4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95935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Systeme de tickets / support integre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503920" y="39593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 EUR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607040" y="4032504"/>
            <a:ext cx="1188720" cy="256032"/>
          </a:xfrm>
          <a:prstGeom prst="rect">
            <a:avLst/>
          </a:prstGeom>
          <a:solidFill>
            <a:srgbClr val="E8F5E9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07040" y="40325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4416552"/>
            <a:ext cx="11064240" cy="4114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41655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Open Data automatise (INSEE, CAF, IRCOM, Min. Interieur, INSERM-CepiDc)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503920" y="44165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5 500 EUR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607040" y="4489704"/>
            <a:ext cx="1188720" cy="256032"/>
          </a:xfrm>
          <a:prstGeom prst="rect">
            <a:avLst/>
          </a:prstGeom>
          <a:solidFill>
            <a:srgbClr val="E8F5E9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07040" y="44897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4873752"/>
            <a:ext cx="11064240" cy="411480"/>
          </a:xfrm>
          <a:prstGeom prst="rect">
            <a:avLst/>
          </a:prstGeom>
          <a:solidFill>
            <a:srgbClr val="E6F6F4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87375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complete (utilisateur, administrateur, technique)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503920" y="48737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 EUR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607040" y="4946904"/>
            <a:ext cx="1188720" cy="256032"/>
          </a:xfrm>
          <a:prstGeom prst="rect">
            <a:avLst/>
          </a:prstGeom>
          <a:solidFill>
            <a:srgbClr val="E8F5E9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07040" y="49469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" y="5330952"/>
            <a:ext cx="11064240" cy="502920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53309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valeur offerte : environ 25 000 EUR HT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326880" y="53309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GESTE VOLONTAIRE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592531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Geste volontaire de N.O.V.I. Connected pour la qualite du livrable.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ORSG - Point projet - 17 avril 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321040" y="6492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Atticot dit Ravino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ORSG-CTPS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Observatoire Regional de la Sante de Guyane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Data Visus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DERNIERE LIGNE DROITE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fin de projet - d'ici fin avril 2026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jalons tres resserres pour fermer proprement le MVP et remettre la plateforme.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86000"/>
            <a:ext cx="2468880" cy="86868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 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Semaine du 21 avril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39572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Recette fonctionnelle conjointe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27432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Dr. Castor, Naissa et Cedric : validation des corrections livrees sur vos jeux de donnees reels.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246120"/>
            <a:ext cx="2468880" cy="868680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 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Semaine du 28 avril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33558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a disposition de la machine ORSG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00400" y="37033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prestataire technique prepare la machine dediee sur laquelle la plateforme sera installee.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206240"/>
            <a:ext cx="246888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97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 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572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29-30 avril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0" y="43159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et connexion VPN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00400" y="46634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de la plateforme sur la machine ORSG, raccordement au reseau prive de l'observatoire.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166360"/>
            <a:ext cx="11064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5166360"/>
            <a:ext cx="2468880" cy="8686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257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 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5532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Vendredi 30 avril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0400" y="527608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Remise officielle et cloture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200400" y="56235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complet, acces admins remis, cloture administrative du MVP.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ORSG - Point projet - 17 avril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21040" y="6492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Atticot dit Ravino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ORSG-CTPS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Observatoire Regional de la Sante de Guyane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Data Visus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MAIN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Formation utilisateurs - planning propose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session de prise en main, collective, a distance, pour demarrer en confiance.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484632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31720"/>
            <a:ext cx="4846320" cy="50292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77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SESSION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0175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 ATTICOT DIT RAVINO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distance (visio)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1148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DUREE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4343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2 heures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6634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L'ensemble de l'equipe ORSG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5532120"/>
            <a:ext cx="4480560" cy="6400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532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a partir du lundi 4 mai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8338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jours ouvres SAUF les mercredis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0" y="2331720"/>
            <a:ext cx="5943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0" y="2331720"/>
            <a:ext cx="5943600" cy="502920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23774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CRENEAUX PROPOSES AU CHOIX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52160" y="3063240"/>
            <a:ext cx="5577840" cy="868680"/>
          </a:xfrm>
          <a:prstGeom prst="rect">
            <a:avLst/>
          </a:prstGeom>
          <a:solidFill>
            <a:srgbClr val="E6F6F4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3246120"/>
            <a:ext cx="502920" cy="502920"/>
          </a:xfrm>
          <a:prstGeom prst="ellipse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6656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 4 mai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6656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 de Paris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875520" y="3246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BB3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14h00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5852160" y="4069080"/>
            <a:ext cx="5577840" cy="868680"/>
          </a:xfrm>
          <a:prstGeom prst="rect">
            <a:avLst/>
          </a:prstGeom>
          <a:solidFill>
            <a:srgbClr val="E6F6F4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4251960"/>
            <a:ext cx="502920" cy="502920"/>
          </a:xfrm>
          <a:prstGeom prst="ellipse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6656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Jeudi 7 mai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66560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 de Paris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875520" y="4251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BB3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10h00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5852160" y="5074920"/>
            <a:ext cx="5577840" cy="868680"/>
          </a:xfrm>
          <a:prstGeom prst="rect">
            <a:avLst/>
          </a:prstGeom>
          <a:solidFill>
            <a:srgbClr val="E6F6F4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0" y="5257800"/>
            <a:ext cx="502920" cy="502920"/>
          </a:xfrm>
          <a:prstGeom prst="ellipse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766560" y="5212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Mardi 12 mai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66560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 de Paris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875520" y="5257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BB3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14h00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ORSG - Point projet - 17 avril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321040" y="6492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Atticot dit Ravino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ORSG-CTPS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Observatoire Regional de la Sante de Guyane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Data Visus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PRESTATION EN DIRECT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aller plus loin : deploiement sur infrastructure ORSG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de la plateforme sur votre machine, cle en main. Prestation realisee par Cedric ATTICOT DIT RAVINO en direct (hors perimetre N.O.V.I. Connected).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931920" cy="365760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31720"/>
            <a:ext cx="3931920" cy="137160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06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FORFAIT DEPLOIEMENT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6 500</a:t>
            </a:r>
            <a:endParaRPr lang="en-US" sz="100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HT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463040" y="4983480"/>
            <a:ext cx="2103120" cy="0"/>
          </a:xfrm>
          <a:prstGeom prst="line">
            <a:avLst/>
          </a:prstGeom>
          <a:noFill/>
          <a:ln w="15240">
            <a:solidFill>
              <a:srgbClr val="3BB3A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120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jours ouvres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440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par Cedric ATTICOT DIT RAVINO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5715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indicatif - negociable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69494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331720"/>
            <a:ext cx="6949440" cy="457200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3774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 dans le forfait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2971800"/>
            <a:ext cx="228600" cy="2286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971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212080" y="292608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 la machine fournie par ORSG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312724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de la conformite avant installation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383280"/>
            <a:ext cx="228600" cy="2286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83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12080" y="333756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de la plateforme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353872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complete sur votre machine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794760"/>
            <a:ext cx="228600" cy="2286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794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212080" y="374904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VPN et certificat de securite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0" y="395020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securise depuis vos postes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4206240"/>
            <a:ext cx="228600" cy="2286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2062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212080" y="416052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quotidiennes automatiques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12080" y="436168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des donnees, restauration testee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4617720"/>
            <a:ext cx="228600" cy="2286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46177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212080" y="45720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complet de la documentation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12080" y="477316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Utilisateur, administrateur, technique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5029200"/>
            <a:ext cx="228600" cy="2286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5029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212080" y="498348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de l'administrateur ORSG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12080" y="518464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en visio sur l'environnement cible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5440680"/>
            <a:ext cx="228600" cy="2286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5440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212080" y="539496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 60 jours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212080" y="559612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Correctifs inclus post-deploiement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" y="6126480"/>
            <a:ext cx="11064240" cy="182880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612648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a negocier en fonction du perimetre final et des contraintes infrastructure ORSG.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ORSG - Point projet - 17 avril 2026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321040" y="6492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Atticot dit Ravino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ORSG-CTPS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Observatoire Regional de la Sante de Guyane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Data Visus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CONTINUITE DE SERVICE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Maintenance annuelle - 3 formules au choix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formules sont facturees par Cedric ATTICOT DIT RAVINO en direct. Tarifs indicatifs, negociables dans le cadre d'un engagement pluriannuel.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6118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86000"/>
            <a:ext cx="3611880" cy="457200"/>
          </a:xfrm>
          <a:prstGeom prst="rect">
            <a:avLst/>
          </a:prstGeom>
          <a:solidFill>
            <a:srgbClr val="2E5FA6"/>
          </a:solidFill>
          <a:ln w="12700">
            <a:solidFill>
              <a:srgbClr val="2E5F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860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ESSENTIELLE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5F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3 600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HT / 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soit 300 EUR HT / mois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88720" y="4754880"/>
            <a:ext cx="23317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946904"/>
            <a:ext cx="128016" cy="128016"/>
          </a:xfrm>
          <a:prstGeom prst="ellipse">
            <a:avLst/>
          </a:prstGeom>
          <a:solidFill>
            <a:srgbClr val="2E5FA6"/>
          </a:solidFill>
          <a:ln w="12700">
            <a:solidFill>
              <a:srgbClr val="2E5F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8920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Maintien en condition operationnelle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5175504"/>
            <a:ext cx="128016" cy="128016"/>
          </a:xfrm>
          <a:prstGeom prst="ellipse">
            <a:avLst/>
          </a:prstGeom>
          <a:solidFill>
            <a:srgbClr val="2E5FA6"/>
          </a:solidFill>
          <a:ln w="12700">
            <a:solidFill>
              <a:srgbClr val="2E5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1206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Correctifs et mises a jour de securite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5404104"/>
            <a:ext cx="128016" cy="128016"/>
          </a:xfrm>
          <a:prstGeom prst="ellipse">
            <a:avLst/>
          </a:prstGeom>
          <a:solidFill>
            <a:srgbClr val="2E5FA6"/>
          </a:solidFill>
          <a:ln w="12700">
            <a:solidFill>
              <a:srgbClr val="2E5F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3492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supervisees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5632704"/>
            <a:ext cx="128016" cy="128016"/>
          </a:xfrm>
          <a:prstGeom prst="ellipse">
            <a:avLst/>
          </a:prstGeom>
          <a:solidFill>
            <a:srgbClr val="2E5FA6"/>
          </a:solidFill>
          <a:ln w="12700">
            <a:solidFill>
              <a:srgbClr val="2E5F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5778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 d'evolutif par mois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" y="5861304"/>
            <a:ext cx="128016" cy="128016"/>
          </a:xfrm>
          <a:prstGeom prst="ellipse">
            <a:avLst/>
          </a:prstGeom>
          <a:solidFill>
            <a:srgbClr val="2E5FA6"/>
          </a:solidFill>
          <a:ln w="12700">
            <a:solidFill>
              <a:srgbClr val="2E5F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8064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email sous 72 h ouvrees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3400" y="2286000"/>
            <a:ext cx="3611880" cy="3749040"/>
          </a:xfrm>
          <a:prstGeom prst="rect">
            <a:avLst/>
          </a:prstGeom>
          <a:solidFill>
            <a:srgbClr val="FFFFFF"/>
          </a:solidFill>
          <a:ln w="31750">
            <a:solidFill>
              <a:srgbClr val="3BB3A9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43400" y="2286000"/>
            <a:ext cx="3611880" cy="457200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22860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0" y="2816352"/>
            <a:ext cx="128016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28163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RECOMMANDEE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343400" y="315468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BB3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7 200</a:t>
            </a:r>
            <a:endParaRPr lang="en-US" sz="5200" dirty="0"/>
          </a:p>
        </p:txBody>
      </p:sp>
      <p:sp>
        <p:nvSpPr>
          <p:cNvPr id="31" name="Text 29"/>
          <p:cNvSpPr/>
          <p:nvPr/>
        </p:nvSpPr>
        <p:spPr>
          <a:xfrm>
            <a:off x="4343400" y="41148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HT / an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43400" y="43891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soit 600 EUR HT / mois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83480" y="4754880"/>
            <a:ext cx="23317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4946904"/>
            <a:ext cx="128016" cy="128016"/>
          </a:xfrm>
          <a:prstGeom prst="ellipse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48920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l'Essentielle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5175504"/>
            <a:ext cx="128016" cy="128016"/>
          </a:xfrm>
          <a:prstGeom prst="ellipse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51206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 / mois (cumulables sur trimestre)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5404104"/>
            <a:ext cx="128016" cy="128016"/>
          </a:xfrm>
          <a:prstGeom prst="ellipse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53492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trimestrielle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5632704"/>
            <a:ext cx="128016" cy="128016"/>
          </a:xfrm>
          <a:prstGeom prst="ellipse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55778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email sous 48 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0" y="5861304"/>
            <a:ext cx="128016" cy="128016"/>
          </a:xfrm>
          <a:prstGeom prst="ellipse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58064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de nouvelles sources Open Data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38160" y="2286000"/>
            <a:ext cx="361188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138160" y="2286000"/>
            <a:ext cx="3611880" cy="45720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38160" y="22860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ETENDUE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138160" y="315468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4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14 400</a:t>
            </a:r>
            <a:endParaRPr lang="en-US" sz="5200" dirty="0"/>
          </a:p>
        </p:txBody>
      </p:sp>
      <p:sp>
        <p:nvSpPr>
          <p:cNvPr id="48" name="Text 46"/>
          <p:cNvSpPr/>
          <p:nvPr/>
        </p:nvSpPr>
        <p:spPr>
          <a:xfrm>
            <a:off x="8138160" y="41148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HT / an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138160" y="43891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soit 1 200 EUR HT / mois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778240" y="4754880"/>
            <a:ext cx="23317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66760" y="4946904"/>
            <a:ext cx="128016" cy="128016"/>
          </a:xfrm>
          <a:prstGeom prst="ellipse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0" y="48920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la Standard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366760" y="5175504"/>
            <a:ext cx="128016" cy="128016"/>
          </a:xfrm>
          <a:prstGeom prst="ellipse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95360" y="51206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h / mois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366760" y="5404104"/>
            <a:ext cx="128016" cy="128016"/>
          </a:xfrm>
          <a:prstGeom prst="ellipse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95360" y="53492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telephonique + SLA 24 h ouvrees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366760" y="5632704"/>
            <a:ext cx="128016" cy="128016"/>
          </a:xfrm>
          <a:prstGeom prst="ellipse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95360" y="55778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mensuelle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366760" y="5861304"/>
            <a:ext cx="128016" cy="128016"/>
          </a:xfrm>
          <a:prstGeom prst="ellipse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95360" y="580644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journee sur site par an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48640" y="6172200"/>
            <a:ext cx="11064240" cy="201168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617220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formules sont reconductibles tacitement, resiliables a 90 jours.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ORSG - Point projet - 17 avril 2026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321040" y="6492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Atticot dit Ravino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ORSG-CTPS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Observatoire Regional de la Sante de Guyane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Data Visus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PAS D'ENGAGEMENT ANNUEL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a la carte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une utilisation occasionnelle, sans souscrire a une formule annuelle : trois options flexibles, facturees par Cedric ATTICOT DIT RAVINO.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36118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468880"/>
            <a:ext cx="3611880" cy="128016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889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TJM Architecte Digital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1A4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950</a:t>
            </a:r>
            <a:endParaRPr lang="en-US" sz="68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HT / jour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805940" y="5120640"/>
            <a:ext cx="1097280" cy="0"/>
          </a:xfrm>
          <a:prstGeom prst="line">
            <a:avLst/>
          </a:prstGeom>
          <a:noFill/>
          <a:ln w="12700">
            <a:solidFill>
              <a:srgbClr val="1A4B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2578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minimum 4 heures (475 EUR HT)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2468880"/>
            <a:ext cx="36118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2468880"/>
            <a:ext cx="3611880" cy="128016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7889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10 heures prepaye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43400" y="338328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3BB3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1 100</a:t>
            </a:r>
            <a:endParaRPr lang="en-US" sz="6800" dirty="0"/>
          </a:p>
        </p:txBody>
      </p:sp>
      <p:sp>
        <p:nvSpPr>
          <p:cNvPr id="19" name="Text 17"/>
          <p:cNvSpPr/>
          <p:nvPr/>
        </p:nvSpPr>
        <p:spPr>
          <a:xfrm>
            <a:off x="4343400" y="4663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HT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00700" y="5120640"/>
            <a:ext cx="1097280" cy="0"/>
          </a:xfrm>
          <a:prstGeom prst="line">
            <a:avLst/>
          </a:prstGeom>
          <a:noFill/>
          <a:ln w="12700">
            <a:solidFill>
              <a:srgbClr val="3BB3A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52578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Valable 12 mois a compter de l'achat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2468880"/>
            <a:ext cx="36118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0" y="2468880"/>
            <a:ext cx="3611880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7889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Delai d'intervention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38160" y="338328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6800" dirty="0"/>
          </a:p>
        </p:txBody>
      </p:sp>
      <p:sp>
        <p:nvSpPr>
          <p:cNvPr id="26" name="Text 24"/>
          <p:cNvSpPr/>
          <p:nvPr/>
        </p:nvSpPr>
        <p:spPr>
          <a:xfrm>
            <a:off x="8138160" y="4663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ouvres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395460" y="5120640"/>
            <a:ext cx="1097280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66760" y="52578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best-effort selon disponibilite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solidFill>
            <a:srgbClr val="1A4B8C"/>
          </a:solidFill>
          <a:ln w="12700">
            <a:solidFill>
              <a:srgbClr val="1A4B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 indicatifs HT - negociables selon volume et engagement.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ORSG - Point projet - 17 avril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321040" y="6492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4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Atticot dit Ravino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4B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pour votre confiance.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3200400" cy="0"/>
          </a:xfrm>
          <a:prstGeom prst="line">
            <a:avLst/>
          </a:prstGeom>
          <a:noFill/>
          <a:ln w="19050">
            <a:solidFill>
              <a:srgbClr val="3BB3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920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 le 30 avril pour la livraison finale.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5303520" cy="33832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71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ORSG-CTPS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Marie-Josiane CASTOR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Directrice ORSG-CTPS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m-j.castor@ors-guyane.org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4434840"/>
            <a:ext cx="4937760" cy="0"/>
          </a:xfrm>
          <a:prstGeom prst="line">
            <a:avLst/>
          </a:prstGeom>
          <a:noFill/>
          <a:ln w="6350">
            <a:solidFill>
              <a:srgbClr val="3BB3A9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Naissa CHATEAU REMY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937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Chargee d'etudes sante publique &amp; epidemiologie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5212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naissa.chateau@ors-guyane.org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5806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Observatoire Regional de la Sante de Guyane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834640"/>
            <a:ext cx="5212080" cy="33832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971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PRESTATAIRES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3337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N.O.V.I. Connected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3703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Prestataire du MVP (BDC N250219)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3977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contact@novi-connected.fr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4434840"/>
            <a:ext cx="4846320" cy="0"/>
          </a:xfrm>
          <a:prstGeom prst="line">
            <a:avLst/>
          </a:prstGeom>
          <a:noFill/>
          <a:ln w="6350">
            <a:solidFill>
              <a:srgbClr val="3BB3A9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Cedric ATTICOT DIT RAVINO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 Digital - Consultant partenaire N.O.V.I.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0" y="5212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cedric.atticot@live.fr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5486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+33 6 50 75 43 89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5806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Deploiement, maintenance, support : facturation directe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3BB3A9"/>
          </a:solidFill>
          <a:ln w="12700">
            <a:solidFill>
              <a:srgbClr val="3BB3A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5379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PRISME / Data Visus - Point projet et dernieres phases - 17 avril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N.O.V.I. Connected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PRISME / Data Visus - Point projet et dernieres phases - 17 avril 2026</dc:title>
  <dc:subject>Plateforme ORSG-CTPS</dc:subject>
  <dc:creator>Cedric Atticot dit Ravino - N.O.V.I. Connected</dc:creator>
  <cp:lastModifiedBy>Cedric Atticot dit Ravino - N.O.V.I. Connected</cp:lastModifiedBy>
  <cp:revision>1</cp:revision>
  <dcterms:created xsi:type="dcterms:W3CDTF">2026-04-17T11:50:05Z</dcterms:created>
  <dcterms:modified xsi:type="dcterms:W3CDTF">2026-04-17T11:50:05Z</dcterms:modified>
</cp:coreProperties>
</file>