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B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0"/>
            <a:ext cx="2834640" cy="6858000"/>
          </a:xfrm>
          <a:prstGeom prst="rect">
            <a:avLst/>
          </a:prstGeom>
          <a:solidFill>
            <a:srgbClr val="3BB3A9">
              <a:alpha val="18000"/>
            </a:srgbClr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280160"/>
            <a:ext cx="91440" cy="420624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PRISME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Sante ORSG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49040"/>
            <a:ext cx="4114800" cy="0"/>
          </a:xfrm>
          <a:prstGeom prst="line">
            <a:avLst/>
          </a:prstGeom>
          <a:noFill/>
          <a:ln w="15240">
            <a:solidFill>
              <a:srgbClr val="3BB3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projet client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17 avril 2026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ORSG-CTPS - Cayenne (Guyane)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Interlocutrice 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 Chateau Remy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Prestataire 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 - Cedric Atticot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46920" y="5486400"/>
            <a:ext cx="2148840" cy="96012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46920" y="5532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V1.0 - MVP livre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46920" y="5806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46920" y="6126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orsgdemo.console.cercleonline.com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VOLUMETRIE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projet PRISME en cinq chiffres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web qui automatise la generation des fichiers Excel Geoclip et des exports Open Data sante sur l'ensemble du territoire guyanais.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21762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423160"/>
            <a:ext cx="2176272" cy="109728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219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85800" y="41148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BDI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71016" y="4617720"/>
            <a:ext cx="731520" cy="0"/>
          </a:xfrm>
          <a:prstGeom prst="line">
            <a:avLst/>
          </a:prstGeom>
          <a:noFill/>
          <a:ln w="15240">
            <a:solidFill>
              <a:srgbClr val="1A4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70916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domaines - referentiel complet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62072" y="2423160"/>
            <a:ext cx="21762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862072" y="2423160"/>
            <a:ext cx="2176272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53512" y="269748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BB3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2999232" y="41148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Open 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84448" y="4617720"/>
            <a:ext cx="731520" cy="0"/>
          </a:xfrm>
          <a:prstGeom prst="line">
            <a:avLst/>
          </a:prstGeom>
          <a:noFill/>
          <a:ln w="15240">
            <a:solidFill>
              <a:srgbClr val="3BB3A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9232" y="470916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INSEE, CAF, IRCOM, BAAC, CepiDc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75504" y="2423160"/>
            <a:ext cx="21762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175504" y="2423160"/>
            <a:ext cx="2176272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66944" y="269748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5312664" y="41148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 geographiques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97880" y="4617720"/>
            <a:ext cx="731520" cy="0"/>
          </a:xfrm>
          <a:prstGeom prst="line">
            <a:avLst/>
          </a:prstGeom>
          <a:noFill/>
          <a:ln w="1524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12664" y="470916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Communes, Region, DOM, France hex, France entiere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488936" y="2423160"/>
            <a:ext cx="21762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88936" y="2423160"/>
            <a:ext cx="217627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0376" y="269748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7626096" y="41148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Excel pre-generes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11312" y="4617720"/>
            <a:ext cx="731520" cy="0"/>
          </a:xfrm>
          <a:prstGeom prst="line">
            <a:avLst/>
          </a:prstGeom>
          <a:noFill/>
          <a:ln w="1524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26096" y="470916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disponibilite immediate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802368" y="2423160"/>
            <a:ext cx="21762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02368" y="2423160"/>
            <a:ext cx="2176272" cy="109728"/>
          </a:xfrm>
          <a:prstGeom prst="rect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269748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5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928 Mo</a:t>
            </a:r>
            <a:endParaRPr lang="en-US" sz="5400" dirty="0"/>
          </a:p>
        </p:txBody>
      </p:sp>
      <p:sp>
        <p:nvSpPr>
          <p:cNvPr id="35" name="Text 33"/>
          <p:cNvSpPr/>
          <p:nvPr/>
        </p:nvSpPr>
        <p:spPr>
          <a:xfrm>
            <a:off x="9939528" y="41148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sources Open Data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524744" y="4617720"/>
            <a:ext cx="731520" cy="0"/>
          </a:xfrm>
          <a:prstGeom prst="line">
            <a:avLst/>
          </a:prstGeom>
          <a:noFill/>
          <a:ln w="15240">
            <a:solidFill>
              <a:srgbClr val="2E5F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39528" y="470916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fichiers collectes et normalises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788152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3 151 lignes Python + Node.js    </a:t>
            </a:r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5 799 lignes React/TypeScript    </a:t>
            </a:r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endpoints REST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TECHNIQUE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technique : un systeme, cinq briques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moderne, open-source, deploiement continu depuis GitHub. Aucune dependance a un editeur proprietaire.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21214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468880"/>
            <a:ext cx="2121408" cy="50292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1460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 / TypeScript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703320"/>
            <a:ext cx="184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Interface, selection des indicateurs, assistant en 3 etapes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74620" y="3877056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07208" y="2468880"/>
            <a:ext cx="21214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807208" y="2468880"/>
            <a:ext cx="2121408" cy="50292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251460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44368" y="315468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Node.js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944368" y="3703320"/>
            <a:ext cx="184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18 endpoints, gestion des jobs, service fichiers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3188" y="3877056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65776" y="2468880"/>
            <a:ext cx="21214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65776" y="2468880"/>
            <a:ext cx="21214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02936" y="251460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02936" y="315468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02936" y="3703320"/>
            <a:ext cx="184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Excel, Open Data, 3 151 lignes metier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91756" y="3877056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24344" y="2468880"/>
            <a:ext cx="21214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24344" y="2468880"/>
            <a:ext cx="2121408" cy="5029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61504" y="251460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BDD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461504" y="315468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PocketBase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61504" y="3703320"/>
            <a:ext cx="184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OTP/password, utilisateurs, tickets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450324" y="3877056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582912" y="2468880"/>
            <a:ext cx="21214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582912" y="2468880"/>
            <a:ext cx="2121408" cy="502920"/>
          </a:xfrm>
          <a:prstGeom prst="rect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20072" y="251460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720072" y="315468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Coolify / Docker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720072" y="3703320"/>
            <a:ext cx="184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sur push GitHub, VPS cercleonline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650992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Hebergement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prive cercleonline    </a:t>
            </a:r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+ TLS auto    </a:t>
            </a:r>
            <a:pPr indent="0" marL="0">
              <a:buNone/>
            </a:pPr>
            <a:r>
              <a:rPr lang="en-US" sz="115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-&gt; Coolify en 3 min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TOURNE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Livrables MVP en production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mise en ligne, testee, accessible aux equipes ORSG. Couvre l'integralite du perimetre contractuel hors deploiement site client.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9496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286000"/>
            <a:ext cx="5394960" cy="45720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5074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pages fonctionnelles</a:t>
            </a:r>
            <a:endParaRPr lang="en-US" sz="1200" dirty="0"/>
          </a:p>
          <a:p>
            <a:pPr lvl="1" marL="6858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generateur, historique, docs, admin, support, profil, login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de generation en 3 etapes</a:t>
            </a:r>
            <a:endParaRPr lang="en-US" sz="1200" dirty="0"/>
          </a:p>
          <a:p>
            <a:pPr lvl="1" marL="6858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-&gt; configuration -&gt; telechargement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authentification : OTP ou mot de passe</a:t>
            </a:r>
            <a:endParaRPr lang="en-US" sz="1200" dirty="0"/>
          </a:p>
          <a:p>
            <a:pPr lvl="1" marL="6858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Resend, forgot-password, 6 utilisateurs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support integres + administration users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2286000"/>
            <a:ext cx="548640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2286000"/>
            <a:ext cx="5486400" cy="45720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331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 par theme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366760" y="2880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332720" y="2880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218688"/>
            <a:ext cx="5212080" cy="365760"/>
          </a:xfrm>
          <a:prstGeom prst="rect">
            <a:avLst/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32461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 Diplomes-Formation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66760" y="32461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332720" y="3246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364845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 Couples-Familles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66760" y="3648456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pop_inf3, sup65, menages...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332720" y="364845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4023360"/>
            <a:ext cx="5212080" cy="365760"/>
          </a:xfrm>
          <a:prstGeom prst="rect">
            <a:avLst/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405079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 Allocataires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40507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332720" y="40507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2020-2023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309360" y="445312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IRCOM Revenus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366760" y="44531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332720" y="44531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2019-2023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4828032"/>
            <a:ext cx="5212080" cy="365760"/>
          </a:xfrm>
          <a:prstGeom prst="rect">
            <a:avLst/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485546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 Pop. legales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366760" y="485546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332720" y="48554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2021-2023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09360" y="52578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ONISR / BAAC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366760" y="52578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(accidents)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332720" y="5257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2019-2023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63640" y="5632704"/>
            <a:ext cx="5212080" cy="365760"/>
          </a:xfrm>
          <a:prstGeom prst="rect">
            <a:avLst/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66013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CepiDc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366760" y="5660136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mortalite (7 causes)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332720" y="566013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2015-2023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DEMANDES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Retours de la reunion du 2 avril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points souleves par Naissa et l'equipe lors de la demo. Chacun priorise et traite en moins de 15 jours.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8600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240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Breadcrumb "Suicide" incorrect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487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d'Ariane affichait "Mortalite alcool" sur la page suicide.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01200" y="233172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 usage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292608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2880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tx_* encombrants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calcules polluaient le parcours sans valeur ajoutee a l'export.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0" y="297180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0" y="29718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56616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80160" y="3520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Thematiques BDI non cliquables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76732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entrees desactivees bloquaient l'exploration du referentiel.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01200" y="361188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0" y="3611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420624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80160" y="4160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manquants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80160" y="44074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Accidents route, noyades et comportements sante attendus par l'equipe.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601200" y="425196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4251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Perimetre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484632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280160" y="4800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CSV/Excel hors-MOCA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280160" y="504748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d'accepter des jeux de donnees externes sans passer par MOCA-O.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01200" y="489204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01200" y="48920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1520" y="548640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80160" y="5440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 admin a generaliser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280160" y="5687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Marie-Josiane, Manuela, Jessie doivent administrer les utilisateurs.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601200" y="5532120"/>
            <a:ext cx="2103120" cy="29260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01200" y="5532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REPONSE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Corrections livrees aujourd'hui - 17 avril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interventions, zero regression, build TypeScript valide, deploiement Coolify automatique en cours.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317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Breadcrumb Suicide corrige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3108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libelle affiche correspond desormais a la page active. Verifie sur les 4 pages de mortalite.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25112" y="219456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25112" y="219456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23317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99432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tx_* retires du parcours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9432" y="3108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ratios tx_* n'apparaissent plus a la generation. Ils restent au referentiel BDI (PRISME les recalcule).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01584" y="219456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01584" y="219456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75904" y="23317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75904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indicateurs cliquables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3108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thematiques BDI ouvertes a la selection. Import CSV/Excel libre active.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11480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251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nouveaux datasets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22960" y="50292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(BAAC/ONISR), noyades (SPF/GEODES), comportements (CepiDc) - operationnels.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25112" y="411480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25112" y="411480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99432" y="4251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99432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CSV/Excel hors-MOCA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99432" y="50292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L'outil accepte desormais les jeux de donnees externes sans passage par MOCA-O.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01584" y="4114800"/>
            <a:ext cx="356616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01584" y="4114800"/>
            <a:ext cx="91440" cy="1737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75904" y="4251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375904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ORSG en admin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375904" y="50292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Naissa, Marie-Josiane, Manuela, Jessie : tous roles administrateur actives.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6126480"/>
            <a:ext cx="11064240" cy="182880"/>
          </a:xfrm>
          <a:prstGeom prst="rect">
            <a:avLst/>
          </a:prstGeom>
          <a:solidFill>
            <a:srgbClr val="E8F5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12648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commits phase MVP + 20 commits maintenance mars - build OK - deploy Coolify auto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PRIORITE CLIENT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 prioritaire : rapport fin mai - Traumatismes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blocs d'indicateurs prioritaires pour le rapport ORSG fin mai sont desormais operationnels suite aux corrections livrees ce matin.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36118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31720"/>
            <a:ext cx="3611880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Accidents de la route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BAAC / ONISR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657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2019-2023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251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CLES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448056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4805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nb_acci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84632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8463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nb_blesses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521208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5212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nb_morts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2331720"/>
            <a:ext cx="36118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43400" y="2331720"/>
            <a:ext cx="3611880" cy="64008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377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Noyades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572000" y="3108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SPF / GEODES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3657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livre 17/04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4251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CLES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0" y="448056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44805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nb_noyades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484632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48463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nb_noyades_deces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38160" y="2331720"/>
            <a:ext cx="36118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8160" y="2331720"/>
            <a:ext cx="3611880" cy="64008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2377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Suicide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66760" y="3108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6676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CepiDc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66760" y="3657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6676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2015-2023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66760" y="4251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CLES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366760" y="4480560"/>
            <a:ext cx="3154680" cy="292608"/>
          </a:xfrm>
          <a:prstGeom prst="rect">
            <a:avLst/>
          </a:prstGeom>
          <a:solidFill>
            <a:srgbClr val="E6F6F4"/>
          </a:solidFill>
          <a:ln w="6350">
            <a:solidFill>
              <a:srgbClr val="3BB3A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58200" y="44805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nb_suicides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blocs sont desormais traites - l'equipe ORSG peut produire le rapport fin mai sur jeu de donnees complet.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3 - FORFAIT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Deploiement sur infrastructure ORSG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de PRISME sur un serveur proprietaire ORSG, hors perimetre MVP actuel. Forfait unique, livraison cle en main.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3931920" cy="393192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31720"/>
            <a:ext cx="3931920" cy="13716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06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DEPLOIEMENT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0632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3 500</a:t>
            </a:r>
            <a:endParaRPr lang="en-US" sz="11000" dirty="0"/>
          </a:p>
        </p:txBody>
      </p:sp>
      <p:sp>
        <p:nvSpPr>
          <p:cNvPr id="12" name="Text 10"/>
          <p:cNvSpPr/>
          <p:nvPr/>
        </p:nvSpPr>
        <p:spPr>
          <a:xfrm>
            <a:off x="54864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HT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463040" y="5074920"/>
            <a:ext cx="2103120" cy="0"/>
          </a:xfrm>
          <a:prstGeom prst="line">
            <a:avLst/>
          </a:prstGeom>
          <a:noFill/>
          <a:ln w="15240">
            <a:solidFill>
              <a:srgbClr val="3BB3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5212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a la livraison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577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Duree : 3 a 5 jours ouvres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69494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31720"/>
            <a:ext cx="6949440" cy="45720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77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 dans le forfait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2971800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971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212080" y="292608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serveur ORSG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12080" y="318211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/ Debian ou cloud ORSG dedie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46320" y="3502152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502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212080" y="345643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reverse proxy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212080" y="371246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/ nginx + SSL Let's Encrypt automatique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4032504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4032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212080" y="398678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 quotidiennes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212080" y="4242816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pb_data et output/ - retention configurable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46320" y="4562856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4562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212080" y="4517136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complet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12080" y="47731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source, documentation, identifiants d'administration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46320" y="5093208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5093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212080" y="504748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administrateurs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212080" y="53035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h a distance sur l'environnement cible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846320" y="5623560"/>
            <a:ext cx="256032" cy="256032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5623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212080" y="557784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30 jours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212080" y="583387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inclus post-deploiement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12 MOIS RECONDUCTIBLE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annuelle - deux formules au choix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Contractualisation sur 12 mois, reconduction tacite. Intervention evolutive incluse, priorites modulables selon la formule retenue.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548640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31720"/>
            <a:ext cx="5486400" cy="548640"/>
          </a:xfrm>
          <a:prstGeom prst="rect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ESSENTIELLE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2 400</a:t>
            </a:r>
            <a:endParaRPr lang="en-US" sz="62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HT / an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(soit 200 EUR HT / mois)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4572000"/>
            <a:ext cx="164592" cy="164592"/>
          </a:xfrm>
          <a:prstGeom prst="ellipse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526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Maintien en condition operationnelle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882896"/>
            <a:ext cx="164592" cy="164592"/>
          </a:xfrm>
          <a:prstGeom prst="ellipse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83717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bugs + mises a jour de securite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5193792"/>
            <a:ext cx="164592" cy="164592"/>
          </a:xfrm>
          <a:prstGeom prst="ellipse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5148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email sous 48 h ouvrees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5504688"/>
            <a:ext cx="164592" cy="164592"/>
          </a:xfrm>
          <a:prstGeom prst="ellipse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5458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 quotidiennes supervisees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815584"/>
            <a:ext cx="164592" cy="164592"/>
          </a:xfrm>
          <a:prstGeom prst="ellipse">
            <a:avLst/>
          </a:prstGeom>
          <a:solidFill>
            <a:srgbClr val="2E5FA6"/>
          </a:solidFill>
          <a:ln w="12700">
            <a:solidFill>
              <a:srgbClr val="2E5F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7698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 / mois d'evolutif inclus (non cumulables)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331720"/>
            <a:ext cx="5486400" cy="3794760"/>
          </a:xfrm>
          <a:prstGeom prst="rect">
            <a:avLst/>
          </a:prstGeom>
          <a:solidFill>
            <a:srgbClr val="FFFFFF"/>
          </a:solidFill>
          <a:ln w="25400">
            <a:solidFill>
              <a:srgbClr val="3BB3A9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331720"/>
            <a:ext cx="5486400" cy="54864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ETENDUE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149840" y="2468880"/>
            <a:ext cx="1417320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49840" y="24688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RECOMMANDEE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17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3BB3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4 800</a:t>
            </a:r>
            <a:endParaRPr lang="en-US" sz="6200" dirty="0"/>
          </a:p>
        </p:txBody>
      </p:sp>
      <p:sp>
        <p:nvSpPr>
          <p:cNvPr id="30" name="Text 28"/>
          <p:cNvSpPr/>
          <p:nvPr/>
        </p:nvSpPr>
        <p:spPr>
          <a:xfrm>
            <a:off x="621792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HT / 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17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(soit 400 EUR HT / mois)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46520" y="4572000"/>
            <a:ext cx="164592" cy="164592"/>
          </a:xfrm>
          <a:prstGeom prst="ellipse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526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l'Essentielle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46520" y="4882896"/>
            <a:ext cx="164592" cy="164592"/>
          </a:xfrm>
          <a:prstGeom prst="ellipse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483717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email 24 h + telephone prioritaire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5193792"/>
            <a:ext cx="164592" cy="164592"/>
          </a:xfrm>
          <a:prstGeom prst="ellipse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20840" y="5148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 / mois evolutif (cumulables sur trimestre)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46520" y="5504688"/>
            <a:ext cx="164592" cy="164592"/>
          </a:xfrm>
          <a:prstGeom prst="ellipse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20840" y="5458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revue trimestrielle avec recommandations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5815584"/>
            <a:ext cx="164592" cy="164592"/>
          </a:xfrm>
          <a:prstGeom prst="ellipse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20840" y="57698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nouvelles sources Open Data a la demande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6217920"/>
            <a:ext cx="11064240" cy="228600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2179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forfait : refonte majeure, integration tierce lourde, migration infra -&gt; devis dedie.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182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- Plateforme Sante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 DE ROUTE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Prochaines etapes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jalons pour cloturer la phase 2, preparer la phase 3 et contractualiser la maintenance.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064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240280"/>
            <a:ext cx="1554480" cy="868680"/>
          </a:xfrm>
          <a:prstGeom prst="rect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 du 21 avril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3500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cote ORSG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8600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 et l'equipe testent les scenarios cles sur leurs jeux de donnees. Retours consolides dans un document.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241280" y="2532888"/>
            <a:ext cx="1371600" cy="365760"/>
          </a:xfrm>
          <a:prstGeom prst="rect">
            <a:avLst/>
          </a:prstGeom>
          <a:solidFill>
            <a:srgbClr val="EFF6FF"/>
          </a:solidFill>
          <a:ln w="6350">
            <a:solidFill>
              <a:srgbClr val="2E5F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0" y="2532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64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00400"/>
            <a:ext cx="1554480" cy="86868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 du 28 avril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3101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utilisateurs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286000" y="36576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heure en visio : tour plateforme, gestion utilisateurs, generation exports, lecture warnings, ouverture ticket.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241280" y="3493008"/>
            <a:ext cx="1371600" cy="365760"/>
          </a:xfrm>
          <a:prstGeom prst="rect">
            <a:avLst/>
          </a:prstGeom>
          <a:solidFill>
            <a:srgbClr val="EFF6FF"/>
          </a:solidFill>
          <a:ln w="6350">
            <a:solidFill>
              <a:srgbClr val="2E5F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0" y="34930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160520"/>
            <a:ext cx="11064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4160520"/>
            <a:ext cx="1554480" cy="8686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251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526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de la recette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286000" y="42702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Cloture phase MVP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286000" y="46177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 solde (7 000 EUR HT), transfert comptes admin, remise codes sources et BILAN_PROJET_PRISME.md.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241280" y="4453128"/>
            <a:ext cx="1371600" cy="365760"/>
          </a:xfrm>
          <a:prstGeom prst="rect">
            <a:avLst/>
          </a:prstGeom>
          <a:solidFill>
            <a:srgbClr val="EFF6FF"/>
          </a:solidFill>
          <a:ln w="6350">
            <a:solidFill>
              <a:srgbClr val="2E5F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41280" y="4453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Cloture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120640"/>
            <a:ext cx="11064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5120640"/>
            <a:ext cx="1554480" cy="868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4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486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 2026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286000" y="52303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Contractualisation maintenance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286000" y="55778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formule (Essentielle / Etendue), bon de commande, demarrage contrat 12 mois reconductible.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41280" y="5413248"/>
            <a:ext cx="1371600" cy="365760"/>
          </a:xfrm>
          <a:prstGeom prst="rect">
            <a:avLst/>
          </a:prstGeom>
          <a:solidFill>
            <a:srgbClr val="EFF6FF"/>
          </a:solidFill>
          <a:ln w="6350">
            <a:solidFill>
              <a:srgbClr val="2E5F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54132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PRISME / ORSG - Point projet - 17 avril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44000" y="6492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4B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14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Merci.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3200400" cy="0"/>
          </a:xfrm>
          <a:prstGeom prst="line">
            <a:avLst/>
          </a:prstGeom>
          <a:noFill/>
          <a:ln w="19050">
            <a:solidFill>
              <a:srgbClr val="3BB3A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468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tourne, la donnee suit, on boucle la recette ensemble.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520440"/>
            <a:ext cx="5212080" cy="24688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COTE ORSG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Naissa Chateau Remy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mission - ORSG-CTPS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naissa.chateau@ors-guyane.org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5212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Observatoire Regional de la Sante de Guyane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5532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equipe : M.-Josiane Castor, Manuela, Jessie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3520440"/>
            <a:ext cx="5212080" cy="24688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BB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3977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Cedric Atticot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 digital - Fondateur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cedric@noviconnected.com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5212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github.com/Shadojin94/ORSG-PRISME-FullStack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5532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Deploiement, maintenance, evolutions - devis sur demande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3BB3A9"/>
          </a:solidFill>
          <a:ln w="12700">
            <a:solidFill>
              <a:srgbClr val="3BB3A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537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N.O.V.I. Connected - PRISME / ORSG - Point projet 17 avril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N.O.V.I. Connected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PRISME - Point projet ORSG - 17 avril 2026</dc:title>
  <dc:subject>Plateforme Sante ORSG</dc:subject>
  <dc:creator>N.O.V.I. Connected - Cedric Atticot</dc:creator>
  <cp:lastModifiedBy>N.O.V.I. Connected - Cedric Atticot</cp:lastModifiedBy>
  <cp:revision>1</cp:revision>
  <dcterms:created xsi:type="dcterms:W3CDTF">2026-04-17T09:56:23Z</dcterms:created>
  <dcterms:modified xsi:type="dcterms:W3CDTF">2026-04-17T09:56:23Z</dcterms:modified>
</cp:coreProperties>
</file>